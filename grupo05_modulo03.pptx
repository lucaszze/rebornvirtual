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escorsi" userId="ddafb29e1ab675a3" providerId="LiveId" clId="{84C5D227-6FE2-4FD7-A8D3-BE042BD509BD}"/>
    <pc:docChg chg="undo custSel modSld sldOrd">
      <pc:chgData name="lucas escorsi" userId="ddafb29e1ab675a3" providerId="LiveId" clId="{84C5D227-6FE2-4FD7-A8D3-BE042BD509BD}" dt="2026-09-26T00:18:02.902" v="37" actId="1076"/>
      <pc:docMkLst>
        <pc:docMk/>
      </pc:docMkLst>
      <pc:sldChg chg="modSp mod">
        <pc:chgData name="lucas escorsi" userId="ddafb29e1ab675a3" providerId="LiveId" clId="{84C5D227-6FE2-4FD7-A8D3-BE042BD509BD}" dt="2026-09-26T00:07:12.051" v="3" actId="20577"/>
        <pc:sldMkLst>
          <pc:docMk/>
          <pc:sldMk cId="0" sldId="256"/>
        </pc:sldMkLst>
        <pc:spChg chg="mod">
          <ac:chgData name="lucas escorsi" userId="ddafb29e1ab675a3" providerId="LiveId" clId="{84C5D227-6FE2-4FD7-A8D3-BE042BD509BD}" dt="2026-09-26T00:07:12.051" v="3" actId="20577"/>
          <ac:spMkLst>
            <pc:docMk/>
            <pc:sldMk cId="0" sldId="256"/>
            <ac:spMk id="9" creationId="{00000000-0000-0000-0000-000000000000}"/>
          </ac:spMkLst>
        </pc:spChg>
      </pc:sldChg>
      <pc:sldChg chg="ord">
        <pc:chgData name="lucas escorsi" userId="ddafb29e1ab675a3" providerId="LiveId" clId="{84C5D227-6FE2-4FD7-A8D3-BE042BD509BD}" dt="2026-09-26T00:07:39.778" v="5"/>
        <pc:sldMkLst>
          <pc:docMk/>
          <pc:sldMk cId="0" sldId="257"/>
        </pc:sldMkLst>
      </pc:sldChg>
      <pc:sldChg chg="addSp delSp modSp mod">
        <pc:chgData name="lucas escorsi" userId="ddafb29e1ab675a3" providerId="LiveId" clId="{84C5D227-6FE2-4FD7-A8D3-BE042BD509BD}" dt="2026-09-26T00:18:02.902" v="37" actId="1076"/>
        <pc:sldMkLst>
          <pc:docMk/>
          <pc:sldMk cId="0" sldId="259"/>
        </pc:sldMkLst>
        <pc:spChg chg="mod">
          <ac:chgData name="lucas escorsi" userId="ddafb29e1ab675a3" providerId="LiveId" clId="{84C5D227-6FE2-4FD7-A8D3-BE042BD509BD}" dt="2026-09-26T00:18:02.902" v="37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23.775" v="32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23.775" v="32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01.022" v="30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01.022" v="30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01.022" v="30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01.022" v="30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01.022" v="30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01.022" v="30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01.022" v="30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01.022" v="30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01.022" v="30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01.022" v="30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55.541" v="36" actId="1076"/>
          <ac:spMkLst>
            <pc:docMk/>
            <pc:sldMk cId="0" sldId="259"/>
            <ac:spMk id="19" creationId="{00000000-0000-0000-0000-000000000000}"/>
          </ac:spMkLst>
        </pc:spChg>
        <pc:spChg chg="del">
          <ac:chgData name="lucas escorsi" userId="ddafb29e1ab675a3" providerId="LiveId" clId="{84C5D227-6FE2-4FD7-A8D3-BE042BD509BD}" dt="2026-09-26T00:14:21.228" v="20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lucas escorsi" userId="ddafb29e1ab675a3" providerId="LiveId" clId="{84C5D227-6FE2-4FD7-A8D3-BE042BD509BD}" dt="2026-09-26T00:13:08.909" v="8" actId="478"/>
          <ac:spMkLst>
            <pc:docMk/>
            <pc:sldMk cId="0" sldId="259"/>
            <ac:spMk id="21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43.118" v="34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43.118" v="34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43.118" v="34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43.118" v="34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43.118" v="34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43.118" v="34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43.118" v="34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lucas escorsi" userId="ddafb29e1ab675a3" providerId="LiveId" clId="{84C5D227-6FE2-4FD7-A8D3-BE042BD509BD}" dt="2026-09-26T00:17:43.118" v="34" actId="1076"/>
          <ac:spMkLst>
            <pc:docMk/>
            <pc:sldMk cId="0" sldId="259"/>
            <ac:spMk id="29" creationId="{00000000-0000-0000-0000-000000000000}"/>
          </ac:spMkLst>
        </pc:spChg>
        <pc:picChg chg="add mod">
          <ac:chgData name="lucas escorsi" userId="ddafb29e1ab675a3" providerId="LiveId" clId="{84C5D227-6FE2-4FD7-A8D3-BE042BD509BD}" dt="2026-09-26T00:17:43.118" v="34" actId="1076"/>
          <ac:picMkLst>
            <pc:docMk/>
            <pc:sldMk cId="0" sldId="259"/>
            <ac:picMk id="31" creationId="{22A0F191-30CC-0E67-8A25-989CDC49E05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55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(não sorteada). Trocar "NN" pelo número do grupo e renomear o arquivo para grupoNN_modulo03.pptx.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Tarefa em uma frase, estado final (contagem de travados = 6, Seção 6), objetos e escalas da Seção 4 da especificação. Todas as peças já estão em pecas.ts nessas medidas, em geometria crua (BoxGeometry). Escala importa agora: corrigir depois = refazer cada medida e cada folga.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9 da especificação e src/regimes/regimes.ts. conferirComposicao() em sonda.ts compara composicaoEsperada com environmentBlendMode da sessão: é onde a declaração pode ser desmentida pelo aparelho. Promessas em aberto: encaixe no visor (Bloco 5) e ancoragem estável em 3 mesas diferentes (Seção 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sonda (src/sonda/sonda.ts) pede todos os recursos como optionalFeatures, lê enabledFeatures, tenta cada espaço de referência e observa 90 quadros. O relatório é montado na própria página (src/relatorio/relatorio.ts), não só no console. No celular, o acesso foi por túnel HTTPS (cloudflared), porque a rede da faculdade isola os aparelhos e WebXR exige contexto seguro. Inserir os dois prints do relatório nos quadros tracejados.</a:t>
            </a:r>
          </a:p>
          <a:p/>
          <a:p>
            <a:r>
              <a:t>ACHADO DO TESTE (25/09): no celular Android (Chrome) a sonda classificou o aparelho como "visor com posição". Causa: o Chrome Android declara immersive-vr e immersive-ar, e classificarAparelho() (src/sonda/graus.ts) só chama de celular quem declara AR sem VR. A própria sessão desmente: composição alpha-blend confirmada. É o exemplo de declaração desmentida pelo aparelho. Correção decidida: classificar pela composição observada (alpha-blend = aparelho de mão com câmera) quando houver sessão.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árvore fixa está em src/cena/oficina.ts (raiz, gabinete exposto como nó, bancada) e o entalhe em pecas.ts (malha.add(marca)). As arestas tracejadas nascem durante a montagem: ao travar, a placa-mãe e a fonte passam a ser filhas do gabinete, e pentes, SSD e dissipador filhos da placa (paiDoEncaixe em manipulacao.ts). O painel de custo é filho da raiz (main.ts), então vai junto quando a bancada é pousada pela câmera. Pergunta provável: o que acontece com o custo se a árvore ganhar mais um nível — uma multiplicação de matriz a mais por nó, desprezível perto do desenho.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da tabela: posição de trava do lugar (encaixe.ts) com a raiz na origem, como no regime de tela; o diário do próprio ambiente mostra "Posição no mundo antes ..., depois ...; desvio de ... m" a cada peça travada (aoRegistrar em manipulacao.ts). Na demonstração: travar a placa-mãe e depois um pente e ler a linha do diário.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laço anda pelo tempo transcorrido (THREE.Clock.getDelta em main.ts): giro de 90°/s e retorno de 2 s em manipulacao.ts. O painel de custo (src/cena/custo.ts) mede a média dos deltas a cada meio segundo, depois do render. Teto declarado na Seção 10.</a:t>
            </a:r>
          </a:p>
          <a:p/>
          <a:p>
            <a:r>
              <a:t>MEDIDO em 25/09/2026: Dell Inspiron 15 3520, Intel Core i5-1135G7, Iris Xe, 16 GB, Brave, 1920x1080 a 120 Hz, regime de tela: 120 qps, 8,3 ms por quadro, 220 triângulos, 21 chamadas de desenho, 21 geometrias, 1 textura. O valor fica preso em 120 qps porque o navegador sincroniza com a taxa do monitor: o custo real é menor que 8,3 ms, e a cena está abaixo dos tetos de 13,9 ms e 16,7 ms. Pergunta provável: em outra máquina, com monitor de 60 Hz, o painel mostraria 60 qps e 16,7 ms, e a cena se comportaria igual porque anda por delta.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91440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46520" y="1234440"/>
            <a:ext cx="731520" cy="731520"/>
          </a:xfrm>
          <a:prstGeom prst="rect">
            <a:avLst/>
          </a:prstGeom>
          <a:solidFill>
            <a:srgbClr val="9AA0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498080" y="1188720"/>
            <a:ext cx="164592" cy="1463040"/>
          </a:xfrm>
          <a:prstGeom prst="rect">
            <a:avLst/>
          </a:prstGeom>
          <a:solidFill>
            <a:srgbClr val="2B3A6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0" y="1188720"/>
            <a:ext cx="164592" cy="18288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164592" cy="1463040"/>
          </a:xfrm>
          <a:prstGeom prst="rect">
            <a:avLst/>
          </a:prstGeom>
          <a:solidFill>
            <a:srgbClr val="2B3A6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818120" y="1188720"/>
            <a:ext cx="164592" cy="18288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00800" y="2331720"/>
            <a:ext cx="868680" cy="237744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48640" y="640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7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05 · Módulo 03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005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RebornVirtual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74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bancada onde seis peças de computador precisam encontrar, cada uma, o seu único lugar e o seu único sentido dentro de um gabinete aberto.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54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Santarelli · Lucas Zurano · Mateus Zurano · Luan · Raul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github.com/Lucaszze/RebornVirtual</a:t>
            </a:r>
            <a:r>
              <a:rPr lang="en-US" sz="1300" dirty="0">
                <a:solidFill>
                  <a:srgbClr val="D6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etiqueta </a:t>
            </a:r>
            <a:r>
              <a:rPr lang="en-US" sz="1300" dirty="0">
                <a:solidFill>
                  <a:srgbClr val="D9A1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modulo-03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cena e a tarefa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1216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360920" y="3291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passos 1, 2, 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E6F0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94360" y="97840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Tarefa: </a:t>
            </a: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encaixar as seis peças no gabinete aberto, cada uma no seu único lugar e sentido.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 quando: </a:t>
            </a: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 6 lugares travados — o gabinete liga.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4023360" cy="2468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Medidas (m)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Bancada (tampo a 0,95)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 × 0,80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Gabinete aberto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 × 0,45 × 0,21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Placa-mãe (ATX)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0,305 × 0,244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Pente de memória ×2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0,133 × 0,031 × 0,008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Dissipador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 × 0,10 × 0,08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 × 0,14 × 0,086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M.2 2280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0,080 × 0,022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Painel de mensagens · ambiente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914400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4754880" y="9144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1225296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1B1F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4892040" y="12984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A1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src/cena/pecas.ts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554480"/>
            <a:ext cx="3657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'pente-2',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categoria: 'pente',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nome: 'Pente de memória',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tamanho: [0.133, 0.008, 0.031],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cor: 0x2b3a67,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pousoXZ: [0.46, 0.03],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giroY: 180, // virado ao contrário: ...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temEntalhe: true,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54880" y="278892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6ECE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919472" y="2926080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A869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4919472" y="29260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919472" y="3246120"/>
            <a:ext cx="3602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Endurece: </a:t>
            </a:r>
            <a:r>
              <a:rPr lang="en-US" sz="1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manipulação — o encaixe julga posição (2,5–5 cm), ângulo (15–20°) e ordem ao mesmo tempo.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Armadilha: </a:t>
            </a:r>
            <a:r>
              <a:rPr lang="en-US" sz="1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virar sequência guiada de cliques. Resposta: a Regra de Ouro — nenhuma dica, peças viradas, recusa diz só a categoria.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r>
              <a:rPr lang="en-US" sz="1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cenas em que o chaveamento seria inventado; aqui o entalhe e o nicho já recusam a peça errada.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regimes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1216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360920" y="3291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· passo 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66928" y="9144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tela</a:t>
            </a:r>
            <a:endParaRPr lang="en-US" sz="14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por janela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51760" cy="1828800"/>
          </a:xfrm>
          <a:prstGeom prst="roundRect">
            <a:avLst>
              <a:gd name="adj" fmla="val 3000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566928" y="1627632"/>
            <a:ext cx="243230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REFERÊNCIA  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RASTREIA  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do corpo — o mouse orbita a câmera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CONTRA  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origem da própria cena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TERÁ DE PROVAR  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montagem inteira roda sem equipamento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 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único que existe e roda hoje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1216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3355848" y="9144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visor</a:t>
            </a:r>
            <a:endParaRPr lang="en-US" sz="14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o mundo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554480"/>
            <a:ext cx="2651760" cy="1828800"/>
          </a:xfrm>
          <a:prstGeom prst="roundRect">
            <a:avLst>
              <a:gd name="adj" fmla="val 3000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3355848" y="1627632"/>
            <a:ext cx="243230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REFERÊNCIA  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local-floor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RASTREIA  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 e duas mãos, 6 graus de liberdade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CONTRA  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chão físico → tampo a 0,95 m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TERÁ DE PROVAR  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bancada a 0,95 m e o pulso gira a peça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 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implementada; encaixe no visor ainda não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A869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144768" y="9144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câmera</a:t>
            </a:r>
            <a:endParaRPr lang="en-US" sz="14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e deposita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2651760" cy="1828800"/>
          </a:xfrm>
          <a:prstGeom prst="roundRect">
            <a:avLst>
              <a:gd name="adj" fmla="val 3000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144768" y="1627632"/>
            <a:ext cx="243230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REFERÊNCIA  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local-floor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RASTREIA  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do aparelho + a mesa real (hit-test)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CONTRA  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mesa real, em escala 1:2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TERÁ DE PROVAR  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bancada parada na mesa enquanto se anda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 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pousa por hit-test; sem teste em 3 mesas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457200" y="35204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13048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1B1F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594360" y="3886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A1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src/regimes/regimes.ts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14223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type TratamentoDoMundo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'substitui'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'preserva'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'exibe';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3520440"/>
            <a:ext cx="3931920" cy="1298448"/>
          </a:xfrm>
          <a:prstGeom prst="roundRect">
            <a:avLst>
              <a:gd name="adj" fmla="val 4225"/>
            </a:avLst>
          </a:prstGeom>
          <a:solidFill>
            <a:srgbClr val="F6ECE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919472" y="3657600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A869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4919472" y="36576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919472" y="3977640"/>
            <a:ext cx="3602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comportamento + composição esperada (opaque / alpha-blend), que a sonda confronta em sessão.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"VR / AR / desktop" — não pode estar errado, então não se confere.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1467" y="21664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aparelho oferece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1216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360920" y="3291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· passos 5, 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81467" y="941832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81467" y="9418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1467" y="1234440"/>
            <a:ext cx="4297680" cy="1600200"/>
          </a:xfrm>
          <a:prstGeom prst="roundRect">
            <a:avLst>
              <a:gd name="adj" fmla="val 3429"/>
            </a:avLst>
          </a:prstGeom>
          <a:solidFill>
            <a:srgbClr val="1B1F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18627" y="13075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A1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src/sonda/recursos.ts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18627" y="1563624"/>
            <a:ext cx="40233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estadoDoRecurso(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nome: string,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concedidos: readonly string[] | undefined,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EstadoDeRecurso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(concedidos === undefined)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'indeterminado';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concedidos.includes(nome) ? 'concedido' : 'negado';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81467" y="2953512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91195" y="295351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AUSENTE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761627" y="2953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isSessionSupported → false: o aparelho não tem o regime. Botão desabilitado com o motivo.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1467" y="3593592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591195" y="35935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NEGADO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761627" y="35935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sessão abriu, listou enabledFeatures e o recurso não está lá.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1467" y="4233672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591195" y="423367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INDETERMINADO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761627" y="42336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sessão não listou nada — não é negativa, é falta de resposta.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916307" y="5623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endereço, duas classes de aparelho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17186" y="302349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· Windows · Brave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classe: somente-tela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836547" y="26517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Android · Chrome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relatório: "visor com posição" — errado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16307" y="3383280"/>
            <a:ext cx="3703320" cy="1645920"/>
          </a:xfrm>
          <a:prstGeom prst="roundRect">
            <a:avLst>
              <a:gd name="adj" fmla="val 3333"/>
            </a:avLst>
          </a:prstGeom>
          <a:solidFill>
            <a:srgbClr val="F6ECE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5080899" y="3520440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A869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5080899" y="35204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080899" y="3840480"/>
            <a:ext cx="3374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os recursos como requiredFeatures — um item exótico derrubaria a sessão e a sonda perderia a resposta.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sonda: </a:t>
            </a: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da câmera abriria em branco no PC, e "indeterminado" viraria "negou tudo".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Desmentido: </a:t>
            </a: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celular declarou VR e AR e o código o chamou de visor; a composição alpha-blend mostra o erro.</a:t>
            </a:r>
            <a:endParaRPr lang="en-US" sz="950" dirty="0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22A0F191-30CC-0E67-8A25-989CDC49E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186" y="778998"/>
            <a:ext cx="1871706" cy="2300846"/>
          </a:xfrm>
          <a:prstGeom prst="rect">
            <a:avLst/>
          </a:prstGeom>
        </p:spPr>
      </p:pic>
      <p:pic>
        <p:nvPicPr>
          <p:cNvPr id="32" name="Print celular 1" descr="cel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822960"/>
            <a:ext cx="868680" cy="1480375"/>
          </a:xfrm>
          <a:prstGeom prst="rect">
            <a:avLst/>
          </a:prstGeom>
          <a:ln w="9525">
            <a:solidFill>
              <a:srgbClr val="D5DBD8"/>
            </a:solidFill>
          </a:ln>
        </p:spPr>
      </p:pic>
      <p:pic>
        <p:nvPicPr>
          <p:cNvPr id="33" name="Print celular 2" descr="cel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822960"/>
            <a:ext cx="868680" cy="1592580"/>
          </a:xfrm>
          <a:prstGeom prst="rect">
            <a:avLst/>
          </a:prstGeom>
          <a:ln w="9525">
            <a:solidFill>
              <a:srgbClr val="D5DBD8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cena como árvore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1216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360920" y="3291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· passo 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103120" y="91440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1216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2103120" y="9144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8A93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A869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2606040" y="1417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(Group)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 flipH="1">
            <a:off x="868680" y="1225296"/>
            <a:ext cx="1691640" cy="192024"/>
          </a:xfrm>
          <a:prstGeom prst="line">
            <a:avLst/>
          </a:prstGeom>
          <a:noFill/>
          <a:ln w="15875">
            <a:solidFill>
              <a:srgbClr val="9AA3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560320" y="1225296"/>
            <a:ext cx="502920" cy="192024"/>
          </a:xfrm>
          <a:prstGeom prst="line">
            <a:avLst/>
          </a:prstGeom>
          <a:noFill/>
          <a:ln w="25400">
            <a:solidFill>
              <a:srgbClr val="A869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E4E7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57200" y="1920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· parede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" y="1728216"/>
            <a:ext cx="914" cy="192024"/>
          </a:xfrm>
          <a:prstGeom prst="line">
            <a:avLst/>
          </a:prstGeom>
          <a:noFill/>
          <a:ln w="15875">
            <a:solidFill>
              <a:srgbClr val="9AA3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371600" y="192024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4A54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1371600" y="19202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tampo + pés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40280" y="192024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4A54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2240280" y="19202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gabinete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08960" y="192024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6B76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3108960" y="19202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soltas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77640" y="192024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6B76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3977640" y="19202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custo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 flipH="1">
            <a:off x="1760220" y="1728216"/>
            <a:ext cx="1303020" cy="192024"/>
          </a:xfrm>
          <a:prstGeom prst="line">
            <a:avLst/>
          </a:prstGeom>
          <a:noFill/>
          <a:ln w="25400">
            <a:solidFill>
              <a:srgbClr val="A869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 flipH="1">
            <a:off x="2628900" y="1728216"/>
            <a:ext cx="434340" cy="192024"/>
          </a:xfrm>
          <a:prstGeom prst="line">
            <a:avLst/>
          </a:prstGeom>
          <a:noFill/>
          <a:ln w="25400">
            <a:solidFill>
              <a:srgbClr val="A869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063240" y="1728216"/>
            <a:ext cx="434340" cy="192024"/>
          </a:xfrm>
          <a:prstGeom prst="line">
            <a:avLst/>
          </a:prstGeom>
          <a:noFill/>
          <a:ln w="25400">
            <a:solidFill>
              <a:srgbClr val="A869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063240" y="1728216"/>
            <a:ext cx="1303020" cy="192024"/>
          </a:xfrm>
          <a:prstGeom prst="line">
            <a:avLst/>
          </a:prstGeom>
          <a:noFill/>
          <a:ln w="25400">
            <a:solidFill>
              <a:srgbClr val="A869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371600" y="242316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E4E7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1371600" y="24231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· paredes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 flipH="1">
            <a:off x="1760220" y="2231136"/>
            <a:ext cx="868680" cy="192024"/>
          </a:xfrm>
          <a:prstGeom prst="line">
            <a:avLst/>
          </a:prstGeom>
          <a:noFill/>
          <a:ln w="15875">
            <a:solidFill>
              <a:srgbClr val="9AA3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2240280" y="242316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2240280" y="24231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placa-mãe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28900" y="2231136"/>
            <a:ext cx="914" cy="192024"/>
          </a:xfrm>
          <a:prstGeom prst="line">
            <a:avLst/>
          </a:prstGeom>
          <a:noFill/>
          <a:ln w="25400">
            <a:solidFill>
              <a:srgbClr val="A8692E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3108960" y="242316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3108960" y="24231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628900" y="2231136"/>
            <a:ext cx="868680" cy="192024"/>
          </a:xfrm>
          <a:prstGeom prst="line">
            <a:avLst/>
          </a:prstGeom>
          <a:noFill/>
          <a:ln w="25400">
            <a:solidFill>
              <a:srgbClr val="A8692E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1371600" y="292608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 txBox="1"/>
          <p:nvPr/>
        </p:nvSpPr>
        <p:spPr>
          <a:xfrm>
            <a:off x="1371600" y="29260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 ×2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40280" y="292608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 txBox="1"/>
          <p:nvPr/>
        </p:nvSpPr>
        <p:spPr>
          <a:xfrm>
            <a:off x="2240280" y="29260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08960" y="292608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 txBox="1"/>
          <p:nvPr/>
        </p:nvSpPr>
        <p:spPr>
          <a:xfrm>
            <a:off x="3108960" y="29260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dissipador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 flipH="1">
            <a:off x="1760220" y="2734056"/>
            <a:ext cx="868680" cy="192024"/>
          </a:xfrm>
          <a:prstGeom prst="line">
            <a:avLst/>
          </a:prstGeom>
          <a:noFill/>
          <a:ln w="25400">
            <a:solidFill>
              <a:srgbClr val="A8692E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2628900" y="2734056"/>
            <a:ext cx="914" cy="192024"/>
          </a:xfrm>
          <a:prstGeom prst="line">
            <a:avLst/>
          </a:prstGeom>
          <a:noFill/>
          <a:ln w="25400">
            <a:solidFill>
              <a:srgbClr val="A8692E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2628900" y="2734056"/>
            <a:ext cx="868680" cy="192024"/>
          </a:xfrm>
          <a:prstGeom prst="line">
            <a:avLst/>
          </a:prstGeom>
          <a:noFill/>
          <a:ln w="25400">
            <a:solidFill>
              <a:srgbClr val="A8692E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1371600" y="3429000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 txBox="1"/>
          <p:nvPr/>
        </p:nvSpPr>
        <p:spPr>
          <a:xfrm>
            <a:off x="1371600" y="342900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entalhe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760220" y="3236976"/>
            <a:ext cx="914" cy="192024"/>
          </a:xfrm>
          <a:prstGeom prst="line">
            <a:avLst/>
          </a:prstGeom>
          <a:noFill/>
          <a:ln w="25400">
            <a:solidFill>
              <a:srgbClr val="A869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457200" y="4160520"/>
            <a:ext cx="365760" cy="0"/>
          </a:xfrm>
          <a:prstGeom prst="line">
            <a:avLst/>
          </a:prstGeom>
          <a:noFill/>
          <a:ln w="25400">
            <a:solidFill>
              <a:srgbClr val="A869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 txBox="1"/>
          <p:nvPr/>
        </p:nvSpPr>
        <p:spPr>
          <a:xfrm>
            <a:off x="914400" y="4041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parentesco por razão de projeto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4480560"/>
            <a:ext cx="365760" cy="0"/>
          </a:xfrm>
          <a:prstGeom prst="line">
            <a:avLst/>
          </a:prstGeom>
          <a:noFill/>
          <a:ln w="25400">
            <a:solidFill>
              <a:srgbClr val="A8692E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 txBox="1"/>
          <p:nvPr/>
        </p:nvSpPr>
        <p:spPr>
          <a:xfrm>
            <a:off x="914400" y="43616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ao travar, por attach (slide 6)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983480" y="914400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 txBox="1"/>
          <p:nvPr/>
        </p:nvSpPr>
        <p:spPr>
          <a:xfrm>
            <a:off x="4983480" y="9144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83480" y="1207008"/>
            <a:ext cx="3703320" cy="1371600"/>
          </a:xfrm>
          <a:prstGeom prst="roundRect">
            <a:avLst>
              <a:gd name="adj" fmla="val 4000"/>
            </a:avLst>
          </a:prstGeom>
          <a:solidFill>
            <a:srgbClr val="1B1F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 txBox="1"/>
          <p:nvPr/>
        </p:nvSpPr>
        <p:spPr>
          <a:xfrm>
            <a:off x="5120640" y="128016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A1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src/tela/manipulacao.ts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5120640" y="1536192"/>
            <a:ext cx="3429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paiDoEncaixe(lugarId: string): THREE.Object3D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(lugarId === 'placa-mae' || lugarId === 'fonte')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gabinete;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placaInstalada ?? gabinete;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983480" y="2715768"/>
            <a:ext cx="3703320" cy="2130552"/>
          </a:xfrm>
          <a:prstGeom prst="roundRect">
            <a:avLst>
              <a:gd name="adj" fmla="val 2575"/>
            </a:avLst>
          </a:prstGeom>
          <a:solidFill>
            <a:srgbClr val="F6ECE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5148072" y="2852928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A869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 txBox="1"/>
          <p:nvPr/>
        </p:nvSpPr>
        <p:spPr>
          <a:xfrm>
            <a:off x="5148072" y="285292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5148072" y="3172968"/>
            <a:ext cx="337413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esses: </a:t>
            </a: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pentes, SSD e dissipador ficam presos à placa, e a placa ao gabinete, como no computador de verdade. Mover a placa leva o que está nela.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 entalhe: </a:t>
            </a: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raiz é o que se pousa na mesa em 1:2; o entalhe gira junto com o pente, e é isso que a recusa "sentido errado" lê.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filho da raiz, como no Bloco 2 — cada componente teria de ser recalculado a cada movimento da placa.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de pai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1216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360920" y="3291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· passo 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1B1F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594360" y="12801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A1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src/tela/manipulacao.ts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36192"/>
            <a:ext cx="39319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antes = peca.getWorldPosition(new THREE.Vector3());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pai = paiDoEncaixe(lugar.id);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pai.attach(peca);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peca.updateMatrixWorld(true);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depois = peca.getWorldPosition(new THREE.Vector3());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desvio = antes.distanceTo(depois);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4206240" cy="1901952"/>
          </a:xfrm>
          <a:prstGeom prst="roundRect">
            <a:avLst>
              <a:gd name="adj" fmla="val 2885"/>
            </a:avLst>
          </a:prstGeom>
          <a:solidFill>
            <a:srgbClr val="E6F0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94360" y="3017520"/>
            <a:ext cx="3931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que attach() faz, uma vez: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8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= inverso(pai.matrixWorld) × filho.matrixWorld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que o filho segue o pai: </a:t>
            </a:r>
            <a:r>
              <a:rPr lang="en-US" sz="1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gabinete deslocado 10 cm em x → o pente vai a (0,150; 0,976; −0,070). Ninguém somou coordenada.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visor: </a:t>
            </a:r>
            <a:r>
              <a:rPr lang="en-US" sz="1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controller.attach(obj) ao apanhar, raiz.attach(obj) ao soltar (src/xr/controles.ts).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9144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no mundo, em metros (regime de tela)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234440"/>
          <a:ext cx="3794760" cy="97231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peça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raiz → novo pai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placa-mãe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gabinete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0,000  0,968  0,000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0,000  0,968  0,000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placa-mãe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0,050  0,976  −0,070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0,050  0,976  −0,070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892040" y="22402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Desvio: 0 m nos dois casos. Local novo: placa (0; 0,018; 0) no gabinete, pente (0,050; 0,008; −0,070) na placa. O ambiente imprime esses números no diário a cada trava.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892040" y="2944368"/>
            <a:ext cx="3794760" cy="1901952"/>
          </a:xfrm>
          <a:prstGeom prst="roundRect">
            <a:avLst>
              <a:gd name="adj" fmla="val 2885"/>
            </a:avLst>
          </a:prstGeom>
          <a:solidFill>
            <a:srgbClr val="F6ECE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056632" y="3081528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A869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5056632" y="308152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056632" y="3401568"/>
            <a:ext cx="34655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recalcular a posição do pente a partir da placa a cada quadro. É uma conta por quadro por peça, e sai de sincronia no primeiro esquecimento.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attach(): </a:t>
            </a: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operação só, no instante da trava — e é ela que a montagem dos próximos módulos vai consumir.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Relógio, orçamento e o que falta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60920" y="329184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1216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360920" y="3291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· passo 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1F6B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1B1F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594360" y="1280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A1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src/main.ts  ·  src/cena/custo.ts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36192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delta = clock.getDelta();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painelDeCusto.registrar(delta);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F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custo.ts, a cada 0,5 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this.qps = this.quadros / this.acumulado;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this.ms = (this.acumulado / this.quadros) * 1000;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57200" y="28529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13,9 ms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no visor (72 qps)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2816352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1828800" y="28529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16,7 ms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na tela (60 qps)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2816352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E6F0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3200400" y="28529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 ms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· limite do monitor de 120 Hz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767328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6ECE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21792" y="3904488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A869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21792" y="39044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4224528"/>
            <a:ext cx="3694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contasse quadros: </a:t>
            </a:r>
            <a:r>
              <a:rPr lang="en-US" sz="9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giro de 90°/s (1,5° por quadro a 60 qps) viraria 216°/s a 144 Hz e 45°/s a 30 qps; o retorno de 2 s duraria 1 s ou 4 s.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9144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custo na cena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11887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atrás da bancada, filha da raiz, lida de renderer.info. Medido em Dell Inspiron 15 3520 (i5-1135G7, Iris Xe), Brave, tela 120 Hz: 120 qps, 220 triângulos, 21 draw calls.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18105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não funciona — e a decisão tomada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130552"/>
          <a:ext cx="3977640" cy="26517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Encaixe no visor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controles do visor apanham e soltam, mas ainda não passam pelo encaixe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do celular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sonda chamou o Android de "visor"; classificar pela composição observada (alpha-blend)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 commitado desde a4d00ae; commit e tag modulo-03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2020</Words>
  <Application>Microsoft Office PowerPoint</Application>
  <PresentationFormat>Apresentação na tela (16:9)</PresentationFormat>
  <Paragraphs>221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RebornVirtual — Módulo 03</dc:title>
  <dc:subject>PptxGenJS Presentation</dc:subject>
  <dc:creator>PptxGenJS</dc:creator>
  <cp:lastModifiedBy>lucas escorsi</cp:lastModifiedBy>
  <cp:revision>1</cp:revision>
  <dcterms:created xsi:type="dcterms:W3CDTF">2026-09-25T23:49:56Z</dcterms:created>
  <dcterms:modified xsi:type="dcterms:W3CDTF">2026-09-26T00:18:04Z</dcterms:modified>
</cp:coreProperties>
</file>